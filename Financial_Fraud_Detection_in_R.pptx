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bubble3D val="0"/>
            <c:spPr>
              <a:solidFill>
                <a:srgbClr val="FF6B5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B214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B214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Default (77.9%)</c:v>
                </c:pt>
                <c:pt idx="1">
                  <c:v>Default (22.1%)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77.88</c:v>
                </c:pt>
                <c:pt idx="1">
                  <c:v>22.12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Non-Default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56-65</c:v>
                  </c:pt>
                  <c:pt idx="5">
                    <c:v>66+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3400</c:v>
                </c:pt>
                <c:pt idx="1">
                  <c:v>6100</c:v>
                </c:pt>
                <c:pt idx="2">
                  <c:v>3600</c:v>
                </c:pt>
                <c:pt idx="3">
                  <c:v>2100</c:v>
                </c:pt>
                <c:pt idx="4">
                  <c:v>900</c:v>
                </c:pt>
                <c:pt idx="5">
                  <c:v>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Default</c:v>
                </c:pt>
              </c:strCache>
            </c:strRef>
          </c:tx>
          <c:spPr>
            <a:solidFill>
              <a:srgbClr val="FF6B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56-65</c:v>
                  </c:pt>
                  <c:pt idx="5">
                    <c:v>66+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1250</c:v>
                </c:pt>
                <c:pt idx="1">
                  <c:v>1900</c:v>
                </c:pt>
                <c:pt idx="2">
                  <c:v>900</c:v>
                </c:pt>
                <c:pt idx="3">
                  <c:v>500</c:v>
                </c:pt>
                <c:pt idx="4">
                  <c:v>220</c:v>
                </c:pt>
                <c:pt idx="5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ROC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20</c:v>
                  </c:pt>
                  <c:pt idx="4">
                    <c:v>30</c:v>
                  </c:pt>
                  <c:pt idx="5">
                    <c:v>45</c:v>
                  </c:pt>
                  <c:pt idx="6">
                    <c:v>60</c:v>
                  </c:pt>
                  <c:pt idx="7">
                    <c:v>75</c:v>
                  </c:pt>
                  <c:pt idx="8">
                    <c:v>90</c:v>
                  </c:pt>
                  <c:pt idx="9">
                    <c:v>100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22</c:v>
                </c:pt>
                <c:pt idx="2">
                  <c:v>38</c:v>
                </c:pt>
                <c:pt idx="3">
                  <c:v>55</c:v>
                </c:pt>
                <c:pt idx="4">
                  <c:v>67</c:v>
                </c:pt>
                <c:pt idx="5">
                  <c:v>78</c:v>
                </c:pt>
                <c:pt idx="6">
                  <c:v>86</c:v>
                </c:pt>
                <c:pt idx="7">
                  <c:v>92</c:v>
                </c:pt>
                <c:pt idx="8">
                  <c:v>97</c:v>
                </c:pt>
                <c:pt idx="9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ROC</c:v>
                </c:pt>
              </c:strCache>
            </c:strRef>
          </c:tx>
          <c:spPr>
            <a:solidFill>
              <a:srgbClr val="FF6B5B"/>
            </a:solidFill>
            <a:ln w="31750" cap="flat">
              <a:solidFill>
                <a:srgbClr val="FF6B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6B5B"/>
              </a:solidFill>
              <a:ln w="9525" cap="flat">
                <a:solidFill>
                  <a:srgbClr val="FF6B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20</c:v>
                  </c:pt>
                  <c:pt idx="4">
                    <c:v>30</c:v>
                  </c:pt>
                  <c:pt idx="5">
                    <c:v>45</c:v>
                  </c:pt>
                  <c:pt idx="6">
                    <c:v>60</c:v>
                  </c:pt>
                  <c:pt idx="7">
                    <c:v>75</c:v>
                  </c:pt>
                  <c:pt idx="8">
                    <c:v>90</c:v>
                  </c:pt>
                  <c:pt idx="9">
                    <c:v>100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18</c:v>
                </c:pt>
                <c:pt idx="2">
                  <c:v>33</c:v>
                </c:pt>
                <c:pt idx="3">
                  <c:v>50</c:v>
                </c:pt>
                <c:pt idx="4">
                  <c:v>62</c:v>
                </c:pt>
                <c:pt idx="5">
                  <c:v>74</c:v>
                </c:pt>
                <c:pt idx="6">
                  <c:v>83</c:v>
                </c:pt>
                <c:pt idx="7">
                  <c:v>90</c:v>
                </c:pt>
                <c:pt idx="8">
                  <c:v>96</c:v>
                </c:pt>
                <c:pt idx="9">
                  <c:v>100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Guess</c:v>
                </c:pt>
              </c:strCache>
            </c:strRef>
          </c:tx>
          <c:spPr>
            <a:solidFill>
              <a:srgbClr val="C4CBDA"/>
            </a:solidFill>
            <a:ln w="31750" cap="flat">
              <a:solidFill>
                <a:srgbClr val="C4CBD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4CBDA"/>
              </a:solidFill>
              <a:ln w="9525" cap="flat">
                <a:solidFill>
                  <a:srgbClr val="C4CBD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20</c:v>
                  </c:pt>
                  <c:pt idx="4">
                    <c:v>30</c:v>
                  </c:pt>
                  <c:pt idx="5">
                    <c:v>45</c:v>
                  </c:pt>
                  <c:pt idx="6">
                    <c:v>60</c:v>
                  </c:pt>
                  <c:pt idx="7">
                    <c:v>75</c:v>
                  </c:pt>
                  <c:pt idx="8">
                    <c:v>90</c:v>
                  </c:pt>
                  <c:pt idx="9">
                    <c:v>100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45</c:v>
                </c:pt>
                <c:pt idx="6">
                  <c:v>60</c:v>
                </c:pt>
                <c:pt idx="7">
                  <c:v>75</c:v>
                </c:pt>
                <c:pt idx="8">
                  <c:v>90</c:v>
                </c:pt>
                <c:pt idx="9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False Positive Rate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True Positive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business stakes: fraud losses and customer trust. Introduce this as an R-based ML pipeline built on the credit-card default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72% stat and pause. Tie the 22.12% default rate directly to our own dataset so it feels concrete, not abstract.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table top to bottom. Spend the most time on PAY_1 (repayment delay) since it is the strongest driver of default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ROC/AUC simply: closer to top-left corner = better. Note train vs test curves are close, meaning the model generalizes.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the 'room to grow' point -- offer next steps: benchmarking random forest and XGBoost, and piloting this on live transaction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914400"/>
            <a:ext cx="3840480" cy="384048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84632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5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MACHINE LEARNING  ·  RISK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Fraud Detection in R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Identifying Credit-Card Default Risk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4297680"/>
            <a:ext cx="1005840" cy="0"/>
          </a:xfrm>
          <a:prstGeom prst="line">
            <a:avLst/>
          </a:prstGeom>
          <a:noFill/>
          <a:ln w="38100">
            <a:solidFill>
              <a:srgbClr val="FF6B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623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 Review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Data Science &amp; Analytics Team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in 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EEF3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03911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search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167128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The Fraud Problem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828800" y="235000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impact and why detection is getting harder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EEF3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203911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167128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842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The Dataset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35000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Taiwanese credit-card clients, 23 features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352044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EEF3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78992" y="37764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904488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72160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Methodology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828800" y="40873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trained, validated model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52044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EEF3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11112" y="37764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3904488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72160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EDA Insights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0873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defaulters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22960" y="525780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EEF3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78992" y="55138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5641848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54589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Model &amp; Results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828800" y="582472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performance, ROC/AUC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55080" y="525780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EEF3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611112" y="55138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s/light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5641848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54589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Conclusion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7360920" y="582472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recommended next steps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in 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384048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Is Accelerating Across Banking &amp; Finance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businesses worldwide report a rise in fraud incidents in the past year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96596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19456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$B+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800600" y="32004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across banking, finance and e-commerce to fraud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96596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219456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22.1%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503920" y="32004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clients in our sample dataset carry a default payment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direct financial loss, fraud erodes customer trust and causes lasting reputational damage to institutions.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in 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in Detecting Fraud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EEF3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4500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092" y="24048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315468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Evolving Fraud Schemes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37947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skimming, synthetic identities and account takeovers keep changing shape.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93592" y="192024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EEF3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5132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4" y="24048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315468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Must Keep Pace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822192" y="37947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AI and blockchain need constant retraining to analyze data and cut false alarms.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64224" y="192024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EEF3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55764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356" y="24048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65392" y="315468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Complexity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92824" y="37947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compliance rules require balancing fraud prevention with customer privacy.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34856" y="192024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EEF3FE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26396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user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988" y="24048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36024" y="315468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+ Machine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63456" y="379476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detection still needs expert judgment layered on top of the models.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in 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of Credit Card Clients — a Taiwanese bank, April–September 2005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2918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48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2679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credit-card clients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32918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1560" y="3913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explanatory variables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526280"/>
            <a:ext cx="32918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617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6,636 (22.12%)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1560" y="5148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in default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8056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GROUPS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2523744"/>
            <a:ext cx="128016" cy="12801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23957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  </a:t>
            </a:r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· EDUCATION · MARRIAGE · 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3090672"/>
            <a:ext cx="128016" cy="12801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9626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   </a:t>
            </a:r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LIMIT_BAL — the amount of given credit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80560" y="3657600"/>
            <a:ext cx="128016" cy="12801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352958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Status   </a:t>
            </a:r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PAY_1 … PAY_6 — history of past monthly payments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80560" y="4224528"/>
            <a:ext cx="128016" cy="12801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40965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Amounts   </a:t>
            </a:r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BILL_AMT1 … BILL_AMT6 — statement amounts, 6 months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80560" y="4791456"/>
            <a:ext cx="128016" cy="12801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4663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Amounts   </a:t>
            </a:r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PAY_AMT1 … PAY_AMT6 — amounts previously paid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80560" y="5358384"/>
            <a:ext cx="128016" cy="12801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52303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 </a:t>
            </a:r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default.payment.next.month — 1 = default, 0 = no default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in 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End-to-End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EEF3FE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6172" y="24871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332" y="26243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029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Import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30K-row dataset with data.table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2514600" y="3063240"/>
            <a:ext cx="79187" cy="0"/>
          </a:xfrm>
          <a:prstGeom prst="line">
            <a:avLst/>
          </a:prstGeom>
          <a:noFill/>
          <a:ln w="22225">
            <a:solidFill>
              <a:srgbClr val="FF6B5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93787" y="22860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EEF3FE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46999" y="24871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159" y="262432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28227" y="2029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685227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Wrangle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685227" y="34747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IDs, rename columns, factor conversion</a:t>
            </a:r>
            <a:endParaRPr lang="en-US" sz="870" dirty="0"/>
          </a:p>
        </p:txBody>
      </p:sp>
      <p:sp>
        <p:nvSpPr>
          <p:cNvPr id="17" name="Shape 13"/>
          <p:cNvSpPr/>
          <p:nvPr/>
        </p:nvSpPr>
        <p:spPr>
          <a:xfrm>
            <a:off x="4285427" y="3063240"/>
            <a:ext cx="79187" cy="0"/>
          </a:xfrm>
          <a:prstGeom prst="line">
            <a:avLst/>
          </a:prstGeom>
          <a:noFill/>
          <a:ln w="22225">
            <a:solidFill>
              <a:srgbClr val="FF6B5B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364614" y="22860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EEF3FE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17826" y="24871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icons/chart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986" y="262432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99054" y="2029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456054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(EDA)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456054" y="34747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density &amp; distribution plots</a:t>
            </a:r>
            <a:endParaRPr lang="en-US" sz="870" dirty="0"/>
          </a:p>
        </p:txBody>
      </p:sp>
      <p:sp>
        <p:nvSpPr>
          <p:cNvPr id="24" name="Shape 19"/>
          <p:cNvSpPr/>
          <p:nvPr/>
        </p:nvSpPr>
        <p:spPr>
          <a:xfrm>
            <a:off x="6056254" y="3063240"/>
            <a:ext cx="79187" cy="0"/>
          </a:xfrm>
          <a:prstGeom prst="line">
            <a:avLst/>
          </a:prstGeom>
          <a:noFill/>
          <a:ln w="22225">
            <a:solidFill>
              <a:srgbClr val="FF6B5B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135441" y="22860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EEF3FE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688653" y="24871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813" y="2624328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69881" y="2029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226881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226881" y="34747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 rare labels, split features / target</a:t>
            </a:r>
            <a:endParaRPr lang="en-US" sz="870" dirty="0"/>
          </a:p>
        </p:txBody>
      </p:sp>
      <p:sp>
        <p:nvSpPr>
          <p:cNvPr id="31" name="Shape 25"/>
          <p:cNvSpPr/>
          <p:nvPr/>
        </p:nvSpPr>
        <p:spPr>
          <a:xfrm>
            <a:off x="7827081" y="3063240"/>
            <a:ext cx="79187" cy="0"/>
          </a:xfrm>
          <a:prstGeom prst="line">
            <a:avLst/>
          </a:prstGeom>
          <a:noFill/>
          <a:ln w="22225">
            <a:solidFill>
              <a:srgbClr val="FF6B5B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7906268" y="22860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EEF3FE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459480" y="24871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icons/rand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6640" y="2624328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140708" y="2029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7997708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7997708" y="34747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(24,000) / 20% test (6,000)</a:t>
            </a:r>
            <a:endParaRPr lang="en-US" sz="870" dirty="0"/>
          </a:p>
        </p:txBody>
      </p:sp>
      <p:sp>
        <p:nvSpPr>
          <p:cNvPr id="38" name="Shape 31"/>
          <p:cNvSpPr/>
          <p:nvPr/>
        </p:nvSpPr>
        <p:spPr>
          <a:xfrm>
            <a:off x="9597908" y="3063240"/>
            <a:ext cx="79187" cy="0"/>
          </a:xfrm>
          <a:prstGeom prst="line">
            <a:avLst/>
          </a:prstGeom>
          <a:noFill/>
          <a:ln w="22225">
            <a:solidFill>
              <a:srgbClr val="FF6B5B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9677095" y="22860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EEF3FE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230307" y="24871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5" descr="icons/bal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7467" y="2624328"/>
            <a:ext cx="310896" cy="31089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0911535" y="2029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35"/>
          <p:cNvSpPr/>
          <p:nvPr/>
        </p:nvSpPr>
        <p:spPr>
          <a:xfrm>
            <a:off x="9768535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&amp; Validate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9768535" y="34747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ROC / AUC evaluation</a:t>
            </a:r>
            <a:endParaRPr lang="en-US" sz="870" dirty="0"/>
          </a:p>
        </p:txBody>
      </p:sp>
      <p:sp>
        <p:nvSpPr>
          <p:cNvPr id="45" name="Text 37"/>
          <p:cNvSpPr/>
          <p:nvPr/>
        </p:nvSpPr>
        <p:spPr>
          <a:xfrm>
            <a:off x="822960" y="4343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(logistic, LDA, KNN, SVM, random forest, XGBoost) is trained, scored, and compared using the same template.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in R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Class Balance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7452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Defaults Concentrate in the 20–35 Age Band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126480" y="187452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822960" y="55321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proportions based on the reported distribution patterns in the source analysis.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in R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the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credit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9280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556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credit limits default more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669280" y="175564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relatively lower credit amounts tend to be the defaulters.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2624328"/>
            <a:ext cx="512064" cy="512064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9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3405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59689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Younger clients are higher risk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669280" y="259689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aged 20–35 show a relatively higher number of defaults.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34655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57530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43814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skews the proportion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669280" y="343814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proportion of default is greater for female clients compared to male.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306824"/>
            <a:ext cx="512064" cy="512064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17" name="Image 3" descr="icons/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416552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27939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amounts are highly correlated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669280" y="427939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among the six months of bill amounts is high; other features show low-to-moderate correlation.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22960" y="51480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25780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51206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Repayment delay is the strongest signal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669280" y="5120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defaulting customers show visible delays in their repayment status history.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in R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Train / Test Split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157984"/>
            <a:ext cx="109728" cy="109728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299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EDUCATION labels (4, 5, 6) merged into label 0 ("other")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752344"/>
            <a:ext cx="109728" cy="109728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243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labels 0 and 3 merged, since 0 = other and 3 = divorced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346704"/>
            <a:ext cx="109728" cy="109728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186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variables (SEX, EDUCATION, MARRIAGE, PAY_1–6, target) converted to factors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941064"/>
            <a:ext cx="109728" cy="109728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8130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found in the 30,000-row dataset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SPLIT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21488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1488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 — 24,000 clients (80%)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333756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FF6B5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3375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 — 6,000 clients (20%)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4206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 fixed (set.seed(666)) for reproducibility of results.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in 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Regression: What Drives Default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~ . fitted on the 24,000-row training set (family = binomial)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15600" cy="356616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  <a:gridCol w="2286000"/>
              </a:tblGrid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Default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LIMIT_BAL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credit limit -&gt; lower default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0.001 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PAY_AMT1 / PAY_AMT2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recent payments -&gt; lower default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0.01 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PAY_1 (repayment delay)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repayment delay -&gt; sharply higher default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0.001 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level shows a significant 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0.001 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Statistically significant effect on 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0.001 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strong standalone effect once other factors are controlled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in 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Evaluation: ROC &amp; AUC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492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3736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EEF3FE"/>
          </a:solidFill>
          <a:ln/>
          <a:effectLst>
            <a:outerShdw sx="100000" sy="100000" kx="0" ky="0" algn="bl" rotWithShape="0" blurRad="889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35240" y="19019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checkcircle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200253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18470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and test curves track closely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635240" y="22677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the model generalizes well rather than overfitting to the training data.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452360" y="315468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EEF3FE"/>
          </a:solidFill>
          <a:ln/>
          <a:effectLst>
            <a:outerShdw sx="100000" sy="100000" kx="0" ky="0" algn="bl" rotWithShape="0" blurRad="889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635240" y="33192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chartline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341985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0" y="3264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 above the diagonal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7635240" y="36850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sits well above the random-guess line across the range, showing real discriminative power.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7452360" y="457200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EEF3FE"/>
          </a:solidFill>
          <a:ln/>
          <a:effectLst>
            <a:outerShdw sx="100000" sy="100000" kx="0" ky="0" algn="bl" rotWithShape="0" blurRad="889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635240" y="47365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alert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483717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0" y="46817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matters at the top-left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7635240" y="51023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can tune the classification threshold to trade off false positives vs. missed fraud.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822960" y="5669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shape is illustrative of the train/test ROC comparison described in the analysis.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in R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039112"/>
            <a:ext cx="566928" cy="566928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7" name="Image 0" descr="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15798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965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validated pipeline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828800" y="23317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built end-to-end in R gives a credible baseline for default/fraud risk scoring.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11112" y="2039112"/>
            <a:ext cx="566928" cy="566928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12" name="Image 1" descr="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15798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1965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Repayment history is the strongest signal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360920" y="23317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PAY_1 and recent payment amounts dominate the model's predictive power.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352044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78992" y="3776472"/>
            <a:ext cx="566928" cy="566928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17" name="Image 2" descr="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389534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37033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Generalizes beyond training data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828800" y="40690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tracking train/test ROC curves show the model isn't just memorizing patterns.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355080" y="352044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11112" y="3776472"/>
            <a:ext cx="566928" cy="566928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22" name="Image 3" descr="icons/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3895344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37033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to grow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360920" y="40690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 and SVM (already scoped in the pipeline) can be benchmarked next for further lift.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in 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920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592928" y="4251960"/>
            <a:ext cx="1005840" cy="0"/>
          </a:xfrm>
          <a:prstGeom prst="line">
            <a:avLst/>
          </a:prstGeom>
          <a:noFill/>
          <a:ln w="38100">
            <a:solidFill>
              <a:srgbClr val="FF6B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 Team  |  Financial Fraud Detection in 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Fraud Detection in R</dc:title>
  <dc:subject>PptxGenJS Presentation</dc:subject>
  <dc:creator>Presenter</dc:creator>
  <cp:lastModifiedBy>Presenter</cp:lastModifiedBy>
  <cp:revision>1</cp:revision>
  <dcterms:created xsi:type="dcterms:W3CDTF">2026-07-02T05:30:57Z</dcterms:created>
  <dcterms:modified xsi:type="dcterms:W3CDTF">2026-07-02T05:30:57Z</dcterms:modified>
</cp:coreProperties>
</file>